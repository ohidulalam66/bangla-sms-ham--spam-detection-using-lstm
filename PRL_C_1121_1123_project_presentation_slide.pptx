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Ham</c:v>
                </c:pt>
              </c:strCache>
            </c:strRef>
          </c:tx>
          <c:spPr>
            <a:solidFill>
              <a:srgbClr val="04BF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</c:v>
                </c:pt>
                <c:pt idx="1">
                  <c:v>0.98</c:v>
                </c:pt>
                <c:pt idx="2">
                  <c:v>0.97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Spam</c:v>
                </c:pt>
              </c:strCache>
            </c:strRef>
          </c:tx>
          <c:spPr>
            <a:solidFill>
              <a:srgbClr val="F270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0.94</c:v>
                </c:pt>
                <c:pt idx="1">
                  <c:v>0.92</c:v>
                </c:pt>
                <c:pt idx="2">
                  <c:v>0.93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D5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A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</c:chart>
  <c:spPr>
    <a:solidFill>
      <a:srgbClr val="F4F9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3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38"/>
                </a:solidFill>
                <a:latin typeface="Arial"/>
              </a:rPr>
              <a:t>Model Accuracy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B9B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9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BF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9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9B9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LinearSVC
(Ours)</c:v>
                  </c:pt>
                  <c:pt idx="2">
                    <c:v>LSTM</c:v>
                  </c:pt>
                  <c:pt idx="3">
                    <c:v>BanglaBERT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88.2</c:v>
                </c:pt>
                <c:pt idx="1">
                  <c:v>96.3</c:v>
                </c:pt>
                <c:pt idx="2">
                  <c:v>96.1</c:v>
                </c:pt>
                <c:pt idx="3">
                  <c:v>97.4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2"/>
        </c:scaling>
        <c:delete val="0"/>
        <c:axPos val="l"/>
        <c:majorGridlines>
          <c:spPr>
            <a:ln w="6350" cap="flat">
              <a:solidFill>
                <a:srgbClr val="D5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A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9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4BFAD">
              <a:alpha val="20000"/>
            </a:srgbClr>
          </a:solidFill>
          <a:ln w="12700">
            <a:solidFill>
              <a:srgbClr val="04BFA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F27059">
              <a:alpha val="20000"/>
            </a:srgbClr>
          </a:solidFill>
          <a:ln w="12700">
            <a:solidFill>
              <a:srgbClr val="F2705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60120"/>
            <a:ext cx="1828800" cy="292608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663"/>
                </a:solidFill>
              </a:rPr>
              <a:t>PRL Project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Bengali SMS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BF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Spam Detection using Deep Learning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AB8"/>
                </a:solidFill>
              </a:rPr>
              <a:t>TF-IDF  ·  LinearSVC  ·  LIME Explainability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474720" cy="36576"/>
          </a:xfrm>
          <a:prstGeom prst="rect">
            <a:avLst/>
          </a:prstGeom>
          <a:solidFill>
            <a:srgbClr val="F27059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6499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AB8"/>
                </a:solidFill>
              </a:rPr>
              <a:t>Mohammad Ohidul Alam(1123) &amp; Mohammad Asmual Hoque Yousha(1121)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AAB8"/>
                </a:solidFill>
              </a:rPr>
              <a:t>CSE 460: Pattern Recognition Laboratory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2194560"/>
            <a:ext cx="1417320" cy="1417320"/>
          </a:xfrm>
          <a:prstGeom prst="rect">
            <a:avLst/>
          </a:prstGeom>
          <a:solidFill>
            <a:srgbClr val="04BFAD">
              <a:alpha val="80000"/>
            </a:srgbClr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19456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96.3%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Accuracy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46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4BFAD"/>
                </a:solidFill>
              </a:rPr>
              <a:t>PROBLEM STATEMENT &amp;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73152"/>
          </a:xfrm>
          <a:prstGeom prst="rect">
            <a:avLst/>
          </a:prstGeom>
          <a:solidFill>
            <a:srgbClr val="F27059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8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7059"/>
                </a:solidFill>
              </a:rPr>
              <a:t>180M+ subscribers</a:t>
            </a:r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</a:rPr>
              <a:t xml:space="preserve"> in Bangladesh rely on SMS as primary communication.
</a:t>
            </a:r>
            <a:pPr indent="0" marL="0">
              <a:buNone/>
            </a:pPr>
            <a:r>
              <a:rPr lang="en-US" sz="1250" b="1" dirty="0">
                <a:solidFill>
                  <a:srgbClr val="F27059"/>
                </a:solidFill>
              </a:rPr>
              <a:t>Bangla spam</a:t>
            </a:r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</a:rPr>
              <a:t xml:space="preserve"> promotes fraudulent loans, fake prizes &amp; phishing — yet virtually all filters target English only.
</a:t>
            </a:r>
            <a:pPr indent="0" marL="0">
              <a:buNone/>
            </a:pPr>
            <a:r>
              <a:rPr lang="en-US" sz="1250" b="1" dirty="0">
                <a:solidFill>
                  <a:srgbClr val="1A2E38"/>
                </a:solidFill>
              </a:rPr>
              <a:t>Three core challenges:
</a:t>
            </a:r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</a:rPr>
              <a:t>• Bengali script (U+0980–U+09FF)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</a:rPr>
              <a:t>• Rich morphology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</a:rPr>
              <a:t>• Mixed Banglish/numeric lures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932688"/>
            <a:ext cx="1783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32688"/>
            <a:ext cx="1783080" cy="64008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15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BFAD"/>
                </a:solidFill>
              </a:rPr>
              <a:t>7,300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Total Messages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932688"/>
            <a:ext cx="1783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0" y="932688"/>
            <a:ext cx="178308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115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</a:rPr>
              <a:t>5,500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Ham (Legit)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459736"/>
            <a:ext cx="1783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459736"/>
            <a:ext cx="1783080" cy="64008"/>
          </a:xfrm>
          <a:prstGeom prst="rect">
            <a:avLst/>
          </a:prstGeom>
          <a:solidFill>
            <a:srgbClr val="F27059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64261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7059"/>
                </a:solidFill>
              </a:rPr>
              <a:t>1,800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00600" y="3264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Spam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459736"/>
            <a:ext cx="1783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2459736"/>
            <a:ext cx="178308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64261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59B6"/>
                </a:solidFill>
              </a:rPr>
              <a:t>80 / 20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66560" y="3264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Train / 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246120"/>
            <a:ext cx="3931920" cy="1143000"/>
          </a:xfrm>
          <a:prstGeom prst="rect">
            <a:avLst/>
          </a:prstGeom>
          <a:solidFill>
            <a:srgbClr val="0646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31012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Source: Labeled Bangla SMS Spam &amp; Ham Dataset (2026)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Collected from real Bangladeshi mobile networks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Annotated by native speakers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AB8"/>
                </a:solidFill>
              </a:rPr>
              <a:t>Mohammad Ohidul Alam(1123) &amp; Mohammad Asmual Hoque Yousha(1121)  ·  CSE 460: Pattern Recognition Laboratory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4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4BFAD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72768"/>
            <a:ext cx="1536192" cy="2834640"/>
          </a:xfrm>
          <a:prstGeom prst="rect">
            <a:avLst/>
          </a:prstGeom>
          <a:solidFill>
            <a:srgbClr val="0A3347"/>
          </a:solidFill>
          <a:ln w="25400">
            <a:solidFill>
              <a:srgbClr val="04BF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72768"/>
            <a:ext cx="1536192" cy="64008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099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BFAD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1671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SMS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71576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Bangla Unicode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text 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953512"/>
            <a:ext cx="164592" cy="73152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572768"/>
            <a:ext cx="1536192" cy="2834640"/>
          </a:xfrm>
          <a:prstGeom prst="rect">
            <a:avLst/>
          </a:prstGeom>
          <a:solidFill>
            <a:srgbClr val="0A3347"/>
          </a:solidFill>
          <a:ln w="25400">
            <a:solidFill>
              <a:srgbClr val="F270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572768"/>
            <a:ext cx="1536192" cy="64008"/>
          </a:xfrm>
          <a:prstGeom prst="rect">
            <a:avLst/>
          </a:prstGeom>
          <a:solidFill>
            <a:srgbClr val="F27059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7099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7059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57400" y="21671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clean_text()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30552" y="271576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Remove URLs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Non-Bangla chars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Collapse spaces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2953512"/>
            <a:ext cx="164592" cy="73152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572768"/>
            <a:ext cx="1536192" cy="2834640"/>
          </a:xfrm>
          <a:prstGeom prst="rect">
            <a:avLst/>
          </a:prstGeom>
          <a:solidFill>
            <a:srgbClr val="0A3347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572768"/>
            <a:ext cx="1536192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7099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B6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94760" y="21671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TF-IDF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67912" y="271576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5,000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Unigrams + Bigrams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Unicode token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9240" y="2953512"/>
            <a:ext cx="164592" cy="73152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572768"/>
            <a:ext cx="1536192" cy="2834640"/>
          </a:xfrm>
          <a:prstGeom prst="rect">
            <a:avLst/>
          </a:prstGeom>
          <a:solidFill>
            <a:srgbClr val="0A3347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1572768"/>
            <a:ext cx="1536192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7099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21671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LinearSVC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05272" y="271576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C=1.0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max_iter=2000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80% train set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86600" y="2953512"/>
            <a:ext cx="164592" cy="73152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1572768"/>
            <a:ext cx="1536192" cy="2834640"/>
          </a:xfrm>
          <a:prstGeom prst="rect">
            <a:avLst/>
          </a:prstGeom>
          <a:solidFill>
            <a:srgbClr val="0A334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1572768"/>
            <a:ext cx="1536192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7099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69480" y="21671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LIME Explain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42632" y="271576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Top-10 words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Per-prediction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AB8"/>
                </a:solidFill>
              </a:rPr>
              <a:t>Human-readable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4BFAD"/>
                </a:solidFill>
              </a:rPr>
              <a:t>GPU-free  ·  Classical ML  ·  &lt;1ms prediction latency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46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4BFAD"/>
                </a:solidFill>
              </a:rPr>
              <a:t>RESULTS &amp; PERFORMANCE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103120" cy="3474720"/>
          </a:xfrm>
          <a:prstGeom prst="rect">
            <a:avLst/>
          </a:prstGeom>
          <a:solidFill>
            <a:srgbClr val="0646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4BFAD"/>
                </a:solidFill>
              </a:rPr>
              <a:t>96.3%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Overall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554480" cy="36576"/>
          </a:xfrm>
          <a:prstGeom prst="rect">
            <a:avLst/>
          </a:prstGeom>
          <a:solidFill>
            <a:srgbClr val="F27059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AB8"/>
                </a:solidFill>
              </a:rPr>
              <a:t>Test set (1,460 msgs)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651760" y="841248"/>
          <a:ext cx="6217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AB8"/>
                </a:solidFill>
              </a:rPr>
              <a:t>Mohammad Ohidul Alam(1123) &amp; Mohammad Asmual Hoque Yousha(1121)  ·  CSE 460: Pattern Recognition Laboratory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46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4BFAD"/>
                </a:solidFill>
              </a:rPr>
              <a:t>CONFUSION MATRIX &amp; KEY FINDINGS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0" y="658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8"/>
                </a:solidFill>
              </a:rPr>
              <a:t>Predicted Ham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658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8"/>
                </a:solidFill>
              </a:rPr>
              <a:t>Predicted Spam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E38"/>
                </a:solidFill>
              </a:rPr>
              <a:t>Actual Ham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E38"/>
                </a:solidFill>
              </a:rPr>
              <a:t>Actual Spam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005840"/>
            <a:ext cx="1371600" cy="914400"/>
          </a:xfrm>
          <a:prstGeom prst="rect">
            <a:avLst/>
          </a:prstGeom>
          <a:solidFill>
            <a:srgbClr val="1648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05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BFAD"/>
                </a:solidFill>
              </a:rPr>
              <a:t>1,078
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AB8"/>
                </a:solidFill>
              </a:rPr>
              <a:t>True Negative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1371600" cy="914400"/>
          </a:xfrm>
          <a:prstGeom prst="rect">
            <a:avLst/>
          </a:prstGeom>
          <a:solidFill>
            <a:srgbClr val="F8EDE3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7059"/>
                </a:solidFill>
              </a:rPr>
              <a:t>22
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AB8"/>
                </a:solidFill>
              </a:rPr>
              <a:t>False Positive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828800" y="1920240"/>
            <a:ext cx="137160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</a:rPr>
              <a:t>33
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AB8"/>
                </a:solidFill>
              </a:rPr>
              <a:t>False Negative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1371600" cy="914400"/>
          </a:xfrm>
          <a:prstGeom prst="rect">
            <a:avLst/>
          </a:prstGeom>
          <a:solidFill>
            <a:srgbClr val="1648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BFAD"/>
                </a:solidFill>
              </a:rPr>
              <a:t>327
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AB8"/>
                </a:solidFill>
              </a:rPr>
              <a:t>True Positive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8"/>
                </a:solidFill>
              </a:rPr>
              <a:t>Key Findings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417320"/>
            <a:ext cx="64008" cy="530352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904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8"/>
                </a:solidFill>
              </a:rPr>
              <a:t>Preprocessing cuts vocab noise by ~38%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207568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075688"/>
            <a:ext cx="64008" cy="530352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48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8"/>
                </a:solidFill>
              </a:rPr>
              <a:t>Bigrams boost spam F1 by +3–4% over unigrams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273405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734056"/>
            <a:ext cx="64008" cy="530352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8072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8"/>
                </a:solidFill>
              </a:rPr>
              <a:t>98% of ham correctly preserved — user trust maintained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339242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392424"/>
            <a:ext cx="64008" cy="530352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46557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8"/>
                </a:solidFill>
              </a:rPr>
              <a:t>LIME reveals consistent spam vocabulary fingerprints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0" y="405079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4050792"/>
            <a:ext cx="64008" cy="530352"/>
          </a:xfrm>
          <a:prstGeom prst="rect">
            <a:avLst/>
          </a:prstGeom>
          <a:solidFill>
            <a:srgbClr val="F27059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12394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8"/>
                </a:solidFill>
              </a:rPr>
              <a:t>9% spam miss-rate: short ambiguous messages slip through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AB8"/>
                </a:solidFill>
              </a:rPr>
              <a:t>Mohammad Ohidul Alam(1123) &amp; Mohammad Asmual Hoque Yousha(1121)  ·  CSE 460: Pattern Recognition Laboratory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46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4BFAD"/>
                </a:solidFill>
              </a:rPr>
              <a:t>MODEL COMPARISON &amp; LIME EXPLAINABILITY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22960"/>
            <a:ext cx="3154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822960"/>
            <a:ext cx="3154680" cy="64008"/>
          </a:xfrm>
          <a:prstGeom prst="rect">
            <a:avLst/>
          </a:prstGeom>
          <a:solidFill>
            <a:srgbClr val="F27059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932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8"/>
                </a:solidFill>
              </a:rPr>
              <a:t>LIME Explainability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481328"/>
            <a:ext cx="1389888" cy="256032"/>
          </a:xfrm>
          <a:prstGeom prst="rect">
            <a:avLst/>
          </a:prstGeom>
          <a:solidFill>
            <a:srgbClr val="F27059">
              <a:alpha val="70000"/>
            </a:srgbClr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481328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8"/>
                </a:solidFill>
              </a:rPr>
              <a:t>bangla-word-1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21040" y="14813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7059"/>
                </a:solidFill>
              </a:rPr>
              <a:t>+0.38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1938528"/>
            <a:ext cx="1207008" cy="256032"/>
          </a:xfrm>
          <a:prstGeom prst="rect">
            <a:avLst/>
          </a:prstGeom>
          <a:solidFill>
            <a:srgbClr val="F27059">
              <a:alpha val="70000"/>
            </a:srgbClr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193852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8"/>
                </a:solidFill>
              </a:rPr>
              <a:t>bangla-word-2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21040" y="1938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7059"/>
                </a:solidFill>
              </a:rPr>
              <a:t>+0.33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395728"/>
            <a:ext cx="1024128" cy="256032"/>
          </a:xfrm>
          <a:prstGeom prst="rect">
            <a:avLst/>
          </a:prstGeom>
          <a:solidFill>
            <a:srgbClr val="F27059">
              <a:alpha val="70000"/>
            </a:srgbClr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9572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8"/>
                </a:solidFill>
              </a:rPr>
              <a:t>bangla-word-3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321040" y="2395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7059"/>
                </a:solidFill>
              </a:rPr>
              <a:t>+0.28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2852928"/>
            <a:ext cx="694944" cy="256032"/>
          </a:xfrm>
          <a:prstGeom prst="rect">
            <a:avLst/>
          </a:prstGeom>
          <a:solidFill>
            <a:srgbClr val="04BFAD">
              <a:alpha val="70000"/>
            </a:srgbClr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285292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8"/>
                </a:solidFill>
              </a:rPr>
              <a:t>bangla-word-4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21040" y="28529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BFAD"/>
                </a:solidFill>
              </a:rPr>
              <a:t>-0.19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3310128"/>
            <a:ext cx="512064" cy="256032"/>
          </a:xfrm>
          <a:prstGeom prst="rect">
            <a:avLst/>
          </a:prstGeom>
          <a:solidFill>
            <a:srgbClr val="04BFAD">
              <a:alpha val="70000"/>
            </a:srgbClr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3310128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8"/>
                </a:solidFill>
              </a:rPr>
              <a:t>bangla-word-5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321040" y="3310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BFAD"/>
                </a:solidFill>
              </a:rPr>
              <a:t>-0.14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0720" y="367588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AB8"/>
                </a:solidFill>
              </a:rPr>
              <a:t>← HAM          SPAM →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064663"/>
          </a:solidFill>
          <a:ln w="12700">
            <a:solidFill>
              <a:srgbClr val="06466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18795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LinearSVC matches deep learning accuracy (96.3% vs LSTM 96.1%) with zero GPU requirement + full LIME transparency.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AB8"/>
                </a:solidFill>
              </a:rPr>
              <a:t>Mohammad Ohidul Alam(1123) &amp; Mohammad Asmual Hoque Yousha(1121)  ·  CSE 460: Pattern Recognition Laboratory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4BFAD">
              <a:alpha val="15000"/>
            </a:srgbClr>
          </a:solidFill>
          <a:ln w="12700">
            <a:solidFill>
              <a:srgbClr val="04BFA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27059">
              <a:alpha val="15000"/>
            </a:srgbClr>
          </a:solidFill>
          <a:ln w="12700">
            <a:solidFill>
              <a:srgbClr val="F2705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4BFAD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What's Next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023360" cy="3246120"/>
          </a:xfrm>
          <a:prstGeom prst="rect">
            <a:avLst/>
          </a:prstGeom>
          <a:solidFill>
            <a:srgbClr val="0A3347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44752"/>
            <a:ext cx="4023360" cy="64008"/>
          </a:xfrm>
          <a:prstGeom prst="rect">
            <a:avLst/>
          </a:prstGeom>
          <a:solidFill>
            <a:srgbClr val="04BFAD"/>
          </a:solidFill>
          <a:ln w="12700">
            <a:solidFill>
              <a:srgbClr val="04B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BFAD"/>
                </a:solidFill>
              </a:rPr>
              <a:t>Summary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BFAD"/>
                </a:solidFill>
              </a:rPr>
              <a:t>96.3%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 xml:space="preserve"> accuracy on real Bangla SMS data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Bangla-aware TF-IDF + LinearSVC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 xml:space="preserve"> pipeline — no GPU, ms-latency
</a:t>
            </a:r>
            <a:pPr indent="0" marL="0">
              <a:buNone/>
            </a:pPr>
            <a:r>
              <a:rPr lang="en-US" sz="1200" b="1" dirty="0">
                <a:solidFill>
                  <a:srgbClr val="04BFAD"/>
                </a:solidFill>
              </a:rPr>
              <a:t>LIME integration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 xml:space="preserve"> makes each prediction transparent and auditable
</a:t>
            </a:r>
            <a:pPr indent="0" marL="0">
              <a:buNone/>
            </a:pPr>
            <a:r>
              <a:rPr lang="en-US" sz="1200" i="1" dirty="0">
                <a:solidFill>
                  <a:srgbClr val="8EAAB8"/>
                </a:solidFill>
              </a:rPr>
              <a:t>Competitive with LSTM (96.1%)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 xml:space="preserve"> at a fraction of the compute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44752"/>
            <a:ext cx="4114800" cy="3246120"/>
          </a:xfrm>
          <a:prstGeom prst="rect">
            <a:avLst/>
          </a:prstGeom>
          <a:solidFill>
            <a:srgbClr val="0A3347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44752"/>
            <a:ext cx="4114800" cy="64008"/>
          </a:xfrm>
          <a:prstGeom prst="rect">
            <a:avLst/>
          </a:prstGeom>
          <a:solidFill>
            <a:srgbClr val="F27059"/>
          </a:solidFill>
          <a:ln w="12700">
            <a:solidFill>
              <a:srgbClr val="F270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36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7059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7059"/>
                </a:solidFill>
              </a:rPr>
              <a:t xml:space="preserve"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BanglaBERT fine-tuning for contextual embeddings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7059"/>
                </a:solidFill>
              </a:rPr>
              <a:t xml:space="preserve"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Banglish (Roman-script) preprocessing support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7059"/>
                </a:solidFill>
              </a:rPr>
              <a:t xml:space="preserve"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Online / incremental learning for evolving spam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35204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7059"/>
                </a:solidFill>
              </a:rPr>
              <a:t xml:space="preserve"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Cost-sensitive training to minimize missed spam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7059"/>
                </a:solidFill>
              </a:rPr>
              <a:t xml:space="preserve"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ONNX / TFLite export for on-device Android filtering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AB8"/>
                </a:solidFill>
              </a:rPr>
              <a:t>Mohammad Ohidul Alam(1123) &amp; Mohammad Asmual Hoque Yousha(1121)  ·  CSE 460: Pattern Recognition Laboratory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 SMS Ham/Spam Detection</dc:title>
  <dc:subject>PptxGenJS Presentation</dc:subject>
  <dc:creator>PptxGenJS</dc:creator>
  <cp:lastModifiedBy>PptxGenJS</cp:lastModifiedBy>
  <cp:revision>1</cp:revision>
  <dcterms:created xsi:type="dcterms:W3CDTF">2026-05-23T16:46:35Z</dcterms:created>
  <dcterms:modified xsi:type="dcterms:W3CDTF">2026-05-23T16:46:35Z</dcterms:modified>
</cp:coreProperties>
</file>